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4" r:id="rId11"/>
    <p:sldId id="269" r:id="rId12"/>
    <p:sldId id="265" r:id="rId13"/>
    <p:sldId id="266" r:id="rId14"/>
    <p:sldId id="270" r:id="rId15"/>
    <p:sldId id="267" r:id="rId16"/>
  </p:sldIdLst>
  <p:sldSz cx="9144000" cy="5143500" type="screen16x9"/>
  <p:notesSz cx="6858000" cy="9144000"/>
  <p:embeddedFontLst>
    <p:embeddedFont>
      <p:font typeface="Archivo Narrow" panose="020B0604020202020204" charset="0"/>
      <p:regular r:id="rId18"/>
      <p:bold r:id="rId19"/>
      <p:italic r:id="rId20"/>
      <p:boldItalic r:id="rId21"/>
    </p:embeddedFon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c56e0e6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70c56e0e6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0c56e0e65_2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70c56e0e65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afdbd29e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cafdbd29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fdbd29e3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3cafdbd29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afdbd29e3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cafdbd29e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fdbd29e3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cafdbd29e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afdbd29e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cafdbd29e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AC24865A-15D1-E5A6-F873-A74895D0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afdbd29e3_0_49:notes">
            <a:extLst>
              <a:ext uri="{FF2B5EF4-FFF2-40B4-BE49-F238E27FC236}">
                <a16:creationId xmlns:a16="http://schemas.microsoft.com/office/drawing/2014/main" id="{E9CB052C-54CF-359C-8FD2-E3CFF28A5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3cafdbd29e3_0_49:notes">
            <a:extLst>
              <a:ext uri="{FF2B5EF4-FFF2-40B4-BE49-F238E27FC236}">
                <a16:creationId xmlns:a16="http://schemas.microsoft.com/office/drawing/2014/main" id="{2A39B886-5B80-8F81-E826-69734DEE8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80216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fdbd29e3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3cafdbd29e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D4472DF-A0B9-B995-14E7-ACF29D56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afdbd29e3_0_56:notes">
            <a:extLst>
              <a:ext uri="{FF2B5EF4-FFF2-40B4-BE49-F238E27FC236}">
                <a16:creationId xmlns:a16="http://schemas.microsoft.com/office/drawing/2014/main" id="{22B0CFBA-165E-F99E-318B-7A59CED2B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cafdbd29e3_0_56:notes">
            <a:extLst>
              <a:ext uri="{FF2B5EF4-FFF2-40B4-BE49-F238E27FC236}">
                <a16:creationId xmlns:a16="http://schemas.microsoft.com/office/drawing/2014/main" id="{63E08931-D7F5-3654-A7C9-F2FCC771B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4824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afdbd29e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cafdbd29e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afdbd29e3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3cafdbd29e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289FA9D7-B150-E983-9688-BE4C7892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afdbd29e3_0_30:notes">
            <a:extLst>
              <a:ext uri="{FF2B5EF4-FFF2-40B4-BE49-F238E27FC236}">
                <a16:creationId xmlns:a16="http://schemas.microsoft.com/office/drawing/2014/main" id="{CA80C453-2DC2-6D86-3371-E50C4F6B9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3cafdbd29e3_0_30:notes">
            <a:extLst>
              <a:ext uri="{FF2B5EF4-FFF2-40B4-BE49-F238E27FC236}">
                <a16:creationId xmlns:a16="http://schemas.microsoft.com/office/drawing/2014/main" id="{59A0FC2D-5FC2-CCB8-9AF9-625BBC4FB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568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afdbd29e3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3cafdbd29e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/>
          <p:nvPr/>
        </p:nvSpPr>
        <p:spPr>
          <a:xfrm flipH="1">
            <a:off x="18" y="50475"/>
            <a:ext cx="9143982" cy="1065191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 flipH="1">
            <a:off x="18" y="0"/>
            <a:ext cx="9143982" cy="1065191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0547" y="256793"/>
            <a:ext cx="2463805" cy="5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-11025" y="4439925"/>
            <a:ext cx="9155100" cy="70357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5" y="4439925"/>
            <a:ext cx="3572100" cy="7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09075" y="4439925"/>
            <a:ext cx="2030700" cy="48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067875" y="4439925"/>
            <a:ext cx="2984400" cy="7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514" cy="62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-11025" y="4768205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346550" y="4850893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5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6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7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8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 Narrow"/>
              <a:buChar char="●"/>
              <a:defRPr sz="1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●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●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package" Target="../embeddings/Microsoft_Excel_Worksheet.xlsx"/><Relationship Id="rId7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1.xlsx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package" Target="../embeddings/Microsoft_Excel_Worksheet3.xls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638937" y="1276500"/>
            <a:ext cx="7866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30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Enhancing Stock Market Forecasting with LSTM Using Daily Aggregated News Sentiment</a:t>
            </a:r>
            <a:endParaRPr sz="2400">
              <a:solidFill>
                <a:srgbClr val="0000FF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1376706" y="3048479"/>
            <a:ext cx="63906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>
                <a:solidFill>
                  <a:schemeClr val="dk1"/>
                </a:solidFill>
              </a:rPr>
              <a:t>Adwaidh Prakasan: 2467108</a:t>
            </a:r>
            <a:br>
              <a:rPr lang="en" sz="1600" b="1">
                <a:solidFill>
                  <a:schemeClr val="dk1"/>
                </a:solidFill>
              </a:rPr>
            </a:br>
            <a:r>
              <a:rPr lang="en" sz="1600" b="1">
                <a:solidFill>
                  <a:schemeClr val="dk1"/>
                </a:solidFill>
              </a:rPr>
              <a:t>Supervisor: Dr. Karthikeyan </a:t>
            </a:r>
            <a:endParaRPr sz="1600" b="1">
              <a:solidFill>
                <a:schemeClr val="dk1"/>
              </a:solidFill>
            </a:endParaRPr>
          </a:p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>
                <a:solidFill>
                  <a:schemeClr val="dk1"/>
                </a:solidFill>
              </a:rPr>
              <a:t>Mentor: Dr GANESH KUMAR R</a:t>
            </a:r>
            <a:endParaRPr sz="1600" b="1">
              <a:solidFill>
                <a:schemeClr val="dk1"/>
              </a:solidFill>
            </a:endParaRPr>
          </a:p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>
                <a:solidFill>
                  <a:schemeClr val="dk1"/>
                </a:solidFill>
              </a:rPr>
              <a:t>Zeroth Review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Abstract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514" cy="62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A multi-model strategy that improves the predictive power of stock prices by combining time-series analytics with external market indicators.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The system allows five base prediction methods: LSTM, XLSTM, SVM, ARIMA, and SARIMA.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A stacking procedure uses linear regression as a meta-model, alongside a voting ensemble method, to link the base models.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The stacking arrangement achieved the lowest total MAPE of 0.6027% for MSFT and the highest Directional Accuracy of 75.86% for GOOGL.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Introduction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A country's stock market acts largely as a replica of its economy and is monitored globally by investors.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Market structure has changed dramatically, moving away from crude statistical tests toward multi-dimensional forecasting.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National markets are primarily driven by market sentiment and are highly influenced by social media and news activity.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Integrating qualitative human factors with technical metrics helps counter investment risks and improves return on investment (ROI).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Problem Statement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Financial time series data is characterized by high volatility, non-linearity, and chaotic behavior, making accurate prediction difficult.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There is a lack of comprehensive feature integration; few models merge advanced sentiment embeddings with complex technical indicators into a single input layer.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Existing ensemble models often employ less enriched or standardized input features, missing the opportunity to leverage deeply extracted metrics.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Objectives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Create a framework combining statistical, machine learning, and deep learning paradigms.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Extract comprehensive technical indicators (SMA, EMA, RSI, MACD) and integrate them with normalized sentiment scores from NLP models.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Gauge model capability using standard metrics including RMSE, MAE, MAPE, and Directional Accuracy (DA).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Objectives</a:t>
            </a: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49" name="Google Shape;149;p25" title="00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75" y="1106350"/>
            <a:ext cx="352425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Methodology &amp; Data Flow Diagram</a:t>
            </a: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 dirty="0">
                <a:latin typeface="Book Antiqua"/>
                <a:ea typeface="Book Antiqua"/>
                <a:cs typeface="Book Antiqua"/>
                <a:sym typeface="Book Antiqua"/>
              </a:rPr>
              <a:t>Historical data is retrieved using the yfinance API, capturing OHLCV values over a configurable window.</a:t>
            </a: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 dirty="0">
                <a:latin typeface="Book Antiqua"/>
                <a:ea typeface="Book Antiqua"/>
                <a:cs typeface="Book Antiqua"/>
                <a:sym typeface="Book Antiqua"/>
              </a:rPr>
              <a:t>Features are normalized via Min-Max scaling, with strict train/test splitting to prevent data leakage and look-ahead bias.</a:t>
            </a: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 dirty="0">
                <a:latin typeface="Book Antiqua"/>
                <a:ea typeface="Book Antiqua"/>
                <a:cs typeface="Book Antiqua"/>
                <a:sym typeface="Book Antiqua"/>
              </a:rPr>
              <a:t>Financial news is processed via a RoBERTa-based pipeline to yield discrete sentiment values (0, 1, 2).</a:t>
            </a: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 dirty="0">
                <a:latin typeface="Book Antiqua"/>
                <a:ea typeface="Book Antiqua"/>
                <a:cs typeface="Book Antiqua"/>
                <a:sym typeface="Book Antiqua"/>
              </a:rPr>
              <a:t>The framework uses a "one-step-ahead" rolling forecast (walk-forward validation) to re-calibrate predictions with recent actual data.</a:t>
            </a: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EC26E07D-0DF6-7C70-5B25-0AF3A7A3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>
            <a:extLst>
              <a:ext uri="{FF2B5EF4-FFF2-40B4-BE49-F238E27FC236}">
                <a16:creationId xmlns:a16="http://schemas.microsoft.com/office/drawing/2014/main" id="{DFE3C035-C281-6842-BBAB-6CC046596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Methodology &amp; Data Flow Diagram</a:t>
            </a:r>
            <a:endParaRPr/>
          </a:p>
        </p:txBody>
      </p:sp>
      <p:sp>
        <p:nvSpPr>
          <p:cNvPr id="162" name="Google Shape;162;p27">
            <a:extLst>
              <a:ext uri="{FF2B5EF4-FFF2-40B4-BE49-F238E27FC236}">
                <a16:creationId xmlns:a16="http://schemas.microsoft.com/office/drawing/2014/main" id="{9318AB2A-659B-80B3-E2C2-68CF6C4529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63" name="Google Shape;163;p27">
            <a:extLst>
              <a:ext uri="{FF2B5EF4-FFF2-40B4-BE49-F238E27FC236}">
                <a16:creationId xmlns:a16="http://schemas.microsoft.com/office/drawing/2014/main" id="{94AD5ADA-5734-F6FC-F334-16627B769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BEA52-EDD7-2843-129A-45723EE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073"/>
            <a:ext cx="9144000" cy="213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25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Built using Python, TensorFlow/Keras for neural networks, and Scikit-learn for machine learning and ensemble meta-learners.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Tested on major stocks (AAPL, MSFT, GOOGL, etc.) utilizing dynamic time spans based on user lookback inputs.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 dirty="0">
                <a:latin typeface="Book Antiqua"/>
                <a:ea typeface="Book Antiqua"/>
                <a:cs typeface="Book Antiqua"/>
                <a:sym typeface="Book Antiqua"/>
              </a:rPr>
              <a:t>Implemented caching to store large sentiment pipelines and specific rate limiting (55 calls/60 seconds) to manage external API constraints gracefully.</a:t>
            </a:r>
            <a:endParaRPr sz="19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2A9DA044-980E-FE5A-B0A9-ED26EEB9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>
            <a:extLst>
              <a:ext uri="{FF2B5EF4-FFF2-40B4-BE49-F238E27FC236}">
                <a16:creationId xmlns:a16="http://schemas.microsoft.com/office/drawing/2014/main" id="{CE64F754-CA32-C318-B9DC-4424D35F27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39B4F3D9-CA53-F3BE-2F94-0FA48020AC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8" name="Google Shape;178;p29">
            <a:extLst>
              <a:ext uri="{FF2B5EF4-FFF2-40B4-BE49-F238E27FC236}">
                <a16:creationId xmlns:a16="http://schemas.microsoft.com/office/drawing/2014/main" id="{5A0699F3-80B6-B025-96D1-6EDFCEE7A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B7F9A-5CD0-047C-4E04-40D2C9927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8499"/>
            <a:ext cx="9144000" cy="200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0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80" name="Google Shape;180;p29" title="Level 2; Process 4.0 (Train Base Models)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73475"/>
            <a:ext cx="8520600" cy="31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Results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Ensemble methods, particularly Stacking, consistently achieved superior results compared to individual base models.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The Stacking model recorded the lowest RMSE, MAE, and MAPE across almost all analyzed stocks.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Stacking achieved a MAPE of 0.75% for GOOGL, 0.60% for MSFT, and 0.72% for JNJ.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The system prioritized Directional Accuracy, with Stacking peaking at 75.86% for GOOGL and 65.52% for V.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1A063967-6D81-2B48-149D-1DC2064B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>
            <a:extLst>
              <a:ext uri="{FF2B5EF4-FFF2-40B4-BE49-F238E27FC236}">
                <a16:creationId xmlns:a16="http://schemas.microsoft.com/office/drawing/2014/main" id="{D57AA929-ACF5-7B67-4131-D9709877D8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Results</a:t>
            </a:r>
            <a:endParaRPr/>
          </a:p>
        </p:txBody>
      </p:sp>
      <p:sp>
        <p:nvSpPr>
          <p:cNvPr id="186" name="Google Shape;186;p30">
            <a:extLst>
              <a:ext uri="{FF2B5EF4-FFF2-40B4-BE49-F238E27FC236}">
                <a16:creationId xmlns:a16="http://schemas.microsoft.com/office/drawing/2014/main" id="{0CC87744-E1EF-DA6A-D545-25972A1112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87" name="Google Shape;187;p30">
            <a:extLst>
              <a:ext uri="{FF2B5EF4-FFF2-40B4-BE49-F238E27FC236}">
                <a16:creationId xmlns:a16="http://schemas.microsoft.com/office/drawing/2014/main" id="{27D5C8D7-27A6-1D07-1F96-5AE1ECFF8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CF1B7B-9499-EBBD-41A1-256354072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487183"/>
              </p:ext>
            </p:extLst>
          </p:nvPr>
        </p:nvGraphicFramePr>
        <p:xfrm>
          <a:off x="71438" y="1087305"/>
          <a:ext cx="42672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267200" imgH="1723959" progId="Excel.Sheet.12">
                  <p:embed/>
                </p:oleObj>
              </mc:Choice>
              <mc:Fallback>
                <p:oleObj name="Worksheet" r:id="rId3" imgW="4267200" imgH="17239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38" y="1087305"/>
                        <a:ext cx="4267200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B7F61DE-170F-101A-826A-946407EDE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673766"/>
              </p:ext>
            </p:extLst>
          </p:nvPr>
        </p:nvGraphicFramePr>
        <p:xfrm>
          <a:off x="4738688" y="1103313"/>
          <a:ext cx="42672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267200" imgH="1723959" progId="Excel.Sheet.12">
                  <p:embed/>
                </p:oleObj>
              </mc:Choice>
              <mc:Fallback>
                <p:oleObj name="Worksheet" r:id="rId5" imgW="4267200" imgH="17239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8688" y="1103313"/>
                        <a:ext cx="4267200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710307E-6DEE-5A5C-272B-7E5392D1E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982977"/>
              </p:ext>
            </p:extLst>
          </p:nvPr>
        </p:nvGraphicFramePr>
        <p:xfrm>
          <a:off x="0" y="2897188"/>
          <a:ext cx="42672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4267200" imgH="1723959" progId="Excel.Sheet.12">
                  <p:embed/>
                </p:oleObj>
              </mc:Choice>
              <mc:Fallback>
                <p:oleObj name="Worksheet" r:id="rId7" imgW="4267200" imgH="17239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2897188"/>
                        <a:ext cx="4267200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772CE8D-884C-4D3A-0485-72829CC0D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57262"/>
              </p:ext>
            </p:extLst>
          </p:nvPr>
        </p:nvGraphicFramePr>
        <p:xfrm>
          <a:off x="4748213" y="2912926"/>
          <a:ext cx="42481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4248261" imgH="1723959" progId="Excel.Sheet.12">
                  <p:embed/>
                </p:oleObj>
              </mc:Choice>
              <mc:Fallback>
                <p:oleObj name="Worksheet" r:id="rId9" imgW="4248261" imgH="17239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48213" y="2912926"/>
                        <a:ext cx="4248150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329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Conclusion and Future Work</a:t>
            </a:r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The thorough integration of heterogeneous machine-learning, statistical, and sentiment-analysis methods provides strong evidence for highly accurate financial forecasts.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Future work will include a focused study comparing models trained with the full feature set against those trained only on technical features.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Plans to expand sentiment sources beyond news summaries to include social media and earnings call transcripts.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 dirty="0">
                <a:latin typeface="Book Antiqua"/>
                <a:ea typeface="Book Antiqua"/>
                <a:cs typeface="Book Antiqua"/>
                <a:sym typeface="Book Antiqua"/>
              </a:rPr>
              <a:t>Exploring the use of Transformer or Attention-based neural networks to better capture long-term dependencies compared to traditional LSTMs.</a:t>
            </a:r>
            <a:endParaRPr sz="16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651</Words>
  <Application>Microsoft Office PowerPoint</Application>
  <PresentationFormat>On-screen Show (16:9)</PresentationFormat>
  <Paragraphs>59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Book Antiqua</vt:lpstr>
      <vt:lpstr>Arial</vt:lpstr>
      <vt:lpstr>Calibri</vt:lpstr>
      <vt:lpstr>Verdana</vt:lpstr>
      <vt:lpstr>Georgia</vt:lpstr>
      <vt:lpstr>Archivo Narrow</vt:lpstr>
      <vt:lpstr>Simple Light</vt:lpstr>
      <vt:lpstr>Simple Light</vt:lpstr>
      <vt:lpstr>Microsoft Excel Worksheet</vt:lpstr>
      <vt:lpstr>Enhancing Stock Market Forecasting with LSTM Using Daily Aggregated News Sentiment</vt:lpstr>
      <vt:lpstr>Abstract</vt:lpstr>
      <vt:lpstr>Introduction</vt:lpstr>
      <vt:lpstr>Problem Statement</vt:lpstr>
      <vt:lpstr>Objectives</vt:lpstr>
      <vt:lpstr>Objectives</vt:lpstr>
      <vt:lpstr>Methodology &amp; Data Flow Diagram</vt:lpstr>
      <vt:lpstr>Methodology &amp; Data Flow Diagram</vt:lpstr>
      <vt:lpstr>Implementation</vt:lpstr>
      <vt:lpstr>Implementation</vt:lpstr>
      <vt:lpstr>Implementation</vt:lpstr>
      <vt:lpstr>Results</vt:lpstr>
      <vt:lpstr>Results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adwaidh prakasan</cp:lastModifiedBy>
  <cp:revision>4</cp:revision>
  <dcterms:modified xsi:type="dcterms:W3CDTF">2026-03-03T20:41:54Z</dcterms:modified>
</cp:coreProperties>
</file>