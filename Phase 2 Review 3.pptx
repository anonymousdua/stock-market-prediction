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19"/>
  </p:notesMasterIdLst>
  <p:sldIdLst>
    <p:sldId id="256" r:id="rId3"/>
    <p:sldId id="257" r:id="rId4"/>
    <p:sldId id="258" r:id="rId5"/>
    <p:sldId id="270" r:id="rId6"/>
    <p:sldId id="271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6858000" cy="9144000"/>
  <p:embeddedFontLst>
    <p:embeddedFont>
      <p:font typeface="Archivo Narrow" panose="020B0604020202020204" charset="0"/>
      <p:regular r:id="rId20"/>
      <p:bold r:id="rId21"/>
      <p:italic r:id="rId22"/>
      <p:boldItalic r:id="rId23"/>
    </p:embeddedFont>
    <p:embeddedFont>
      <p:font typeface="Book Antiqua" panose="02040602050305030304" pitchFamily="18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c8e49146c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dc8e49146c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c8e49146c_2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3dc8e49146c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8e49146c_2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dc8e49146c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F0BE3876-2991-A289-6654-40BC323F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8e49146c_2_70:notes">
            <a:extLst>
              <a:ext uri="{FF2B5EF4-FFF2-40B4-BE49-F238E27FC236}">
                <a16:creationId xmlns:a16="http://schemas.microsoft.com/office/drawing/2014/main" id="{E83930D1-D838-BC72-CE3F-FCF686A00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dc8e49146c_2_70:notes">
            <a:extLst>
              <a:ext uri="{FF2B5EF4-FFF2-40B4-BE49-F238E27FC236}">
                <a16:creationId xmlns:a16="http://schemas.microsoft.com/office/drawing/2014/main" id="{33B7CDB9-9AC1-D650-01BD-E431571A4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0173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A5F292B9-749E-829E-88B9-499EB6DC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8e49146c_2_70:notes">
            <a:extLst>
              <a:ext uri="{FF2B5EF4-FFF2-40B4-BE49-F238E27FC236}">
                <a16:creationId xmlns:a16="http://schemas.microsoft.com/office/drawing/2014/main" id="{5DBB5862-F468-7C06-1A04-B72A2CE69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dc8e49146c_2_70:notes">
            <a:extLst>
              <a:ext uri="{FF2B5EF4-FFF2-40B4-BE49-F238E27FC236}">
                <a16:creationId xmlns:a16="http://schemas.microsoft.com/office/drawing/2014/main" id="{29A2AC70-D8FB-FEC1-5643-C80F582255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6778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c8e49146c_2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g3dc8e49146c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8e49146c_2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dc8e49146c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c8e49146c_2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dc8e49146c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c8e49146c_2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dc8e49146c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c8e49146c_2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g3dc8e49146c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c8e49146c_2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3dc8e49146c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c8e49146c_2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dc8e49146c_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c8e49146c_2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g3dc8e49146c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c8e49146c_2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g3dc8e49146c_2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c8e49146c_2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dc8e49146c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c8e49146c_2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3dc8e49146c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0" y="1415098"/>
            <a:ext cx="8520600" cy="138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/>
          <p:nvPr/>
        </p:nvSpPr>
        <p:spPr>
          <a:xfrm flipH="1">
            <a:off x="18" y="50475"/>
            <a:ext cx="9143982" cy="1065191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 flipH="1">
            <a:off x="18" y="0"/>
            <a:ext cx="9143982" cy="1065191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0547" y="256793"/>
            <a:ext cx="2463805" cy="5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-11025" y="4439925"/>
            <a:ext cx="9155100" cy="70357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5" y="4439925"/>
            <a:ext cx="3572100" cy="70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1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8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709075" y="4439925"/>
            <a:ext cx="2030700" cy="48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1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8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067875" y="4439925"/>
            <a:ext cx="2984400" cy="70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VALUES</a:t>
            </a:r>
            <a:endParaRPr sz="11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8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8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514" cy="624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-11025" y="4768205"/>
            <a:ext cx="9155100" cy="3827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346550" y="4850893"/>
            <a:ext cx="2457600" cy="21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15"/>
          <p:cNvSpPr/>
          <p:nvPr/>
        </p:nvSpPr>
        <p:spPr>
          <a:xfrm rot="10800000">
            <a:off x="6945800" y="206"/>
            <a:ext cx="2207100" cy="4610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945800" y="186071"/>
            <a:ext cx="2207100" cy="1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-11025" y="4760831"/>
            <a:ext cx="9155100" cy="3827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343200" y="4823355"/>
            <a:ext cx="2457600" cy="21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6"/>
          <p:cNvSpPr/>
          <p:nvPr/>
        </p:nvSpPr>
        <p:spPr>
          <a:xfrm rot="10800000">
            <a:off x="6945800" y="206"/>
            <a:ext cx="2207100" cy="4610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6945800" y="186071"/>
            <a:ext cx="2207100" cy="1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-11025" y="4760831"/>
            <a:ext cx="9155100" cy="3827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343200" y="4823355"/>
            <a:ext cx="2457600" cy="21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" name="Google Shape;90;p17"/>
          <p:cNvSpPr/>
          <p:nvPr/>
        </p:nvSpPr>
        <p:spPr>
          <a:xfrm rot="10800000">
            <a:off x="6945800" y="206"/>
            <a:ext cx="2207100" cy="4610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945800" y="186071"/>
            <a:ext cx="2207100" cy="1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-11025" y="4760831"/>
            <a:ext cx="9155100" cy="3827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343200" y="4823355"/>
            <a:ext cx="2457600" cy="21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8"/>
          <p:cNvSpPr/>
          <p:nvPr/>
        </p:nvSpPr>
        <p:spPr>
          <a:xfrm rot="10800000">
            <a:off x="6945800" y="206"/>
            <a:ext cx="2207100" cy="461025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 rot="10800000">
            <a:off x="-2200" y="-19"/>
            <a:ext cx="9155100" cy="2736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6945800" y="186071"/>
            <a:ext cx="2207100" cy="1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9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9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chivo Narrow"/>
              <a:buNone/>
              <a:defRPr sz="21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 Narrow"/>
              <a:buChar char="●"/>
              <a:defRPr sz="1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○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■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●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○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■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●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chivo Narrow"/>
              <a:buChar char="○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chivo Narrow"/>
              <a:buChar char="■"/>
              <a:defRPr sz="1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638937" y="1738482"/>
            <a:ext cx="7866000" cy="120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2000" dirty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Enhancing Stock Price Prediction: A Multi-Model</a:t>
            </a:r>
            <a:br>
              <a:rPr lang="en-US" sz="2000" dirty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dirty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Framework Integrating Technical Indicators and</a:t>
            </a:r>
            <a:br>
              <a:rPr lang="en-US" sz="2000" dirty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dirty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Sentiment Analysis</a:t>
            </a:r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1376706" y="3048479"/>
            <a:ext cx="63906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42900" lvl="0" indent="-279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600" b="1" dirty="0">
                <a:solidFill>
                  <a:schemeClr val="dk1"/>
                </a:solidFill>
              </a:rPr>
              <a:t>Adwaidh Prakasan: 2467108</a:t>
            </a:r>
            <a:br>
              <a:rPr lang="en" sz="1600" b="1" dirty="0">
                <a:solidFill>
                  <a:schemeClr val="dk1"/>
                </a:solidFill>
              </a:rPr>
            </a:br>
            <a:r>
              <a:rPr lang="en" sz="1600" b="1" dirty="0">
                <a:solidFill>
                  <a:schemeClr val="dk1"/>
                </a:solidFill>
              </a:rPr>
              <a:t>Supervisor: Dr. Karthikeyan </a:t>
            </a:r>
            <a:endParaRPr sz="1600" b="1" dirty="0">
              <a:solidFill>
                <a:schemeClr val="dk1"/>
              </a:solidFill>
            </a:endParaRPr>
          </a:p>
          <a:p>
            <a:pPr marL="342900" lvl="0" indent="-279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600" b="1" dirty="0">
                <a:solidFill>
                  <a:schemeClr val="dk1"/>
                </a:solidFill>
              </a:rPr>
              <a:t>Mentor: Dr GANESH KUMAR R</a:t>
            </a:r>
            <a:endParaRPr sz="1600" b="1" dirty="0">
              <a:solidFill>
                <a:schemeClr val="dk1"/>
              </a:solidFill>
            </a:endParaRPr>
          </a:p>
          <a:p>
            <a:pPr marL="342900" lvl="0" indent="-279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1600" b="1">
                <a:solidFill>
                  <a:schemeClr val="dk1"/>
                </a:solidFill>
              </a:rPr>
              <a:t>Final </a:t>
            </a:r>
            <a:r>
              <a:rPr lang="en" sz="1600" b="1" dirty="0">
                <a:solidFill>
                  <a:schemeClr val="dk1"/>
                </a:solidFill>
              </a:rPr>
              <a:t>Review</a:t>
            </a:r>
            <a:endParaRPr sz="16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Abstract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514" cy="624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A multi-model strategy that improves the predictive power of stock prices by combining time-series analytics with external market indicators.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The system allows five base prediction methods: LSTM, XLSTM, SVM, ARIMA, and SARIMA.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A stacking procedure uses linear regression as a meta-model, alongside a voting ensemble method, to link the base models.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The stacking arrangement achieved the lowest total MAPE of 0.6027% for MSFT and the highest Directional Accuracy of 75.86% for GOOGL.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Introduction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A country's stock market acts largely as a replica of its economy and is monitored globally by investors.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Market structure has changed dramatically, moving away from crude statistical tests toward multi-dimensional forecasting.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National markets are primarily driven by market sentiment and are highly influenced by social media and news activity.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Integrating qualitative human factors with technical metrics helps counter investment risks and improves return on investment (ROI).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7E4C5245-BFBA-575A-BA61-07D56A74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>
            <a:extLst>
              <a:ext uri="{FF2B5EF4-FFF2-40B4-BE49-F238E27FC236}">
                <a16:creationId xmlns:a16="http://schemas.microsoft.com/office/drawing/2014/main" id="{C243F6B1-FC03-DC33-6F14-E36E063CC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400" dirty="0">
                <a:solidFill>
                  <a:srgbClr val="7030A0"/>
                </a:solidFill>
              </a:rPr>
              <a:t>Literature Review</a:t>
            </a:r>
            <a:endParaRPr dirty="0"/>
          </a:p>
        </p:txBody>
      </p:sp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2F2D2043-3F1C-F7F0-941B-99779CE382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8E552AD9-49A1-20A1-738A-B434B9C95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-US" sz="2000" dirty="0">
                <a:latin typeface="Book Antiqua"/>
                <a:ea typeface="Book Antiqua"/>
                <a:cs typeface="Book Antiqua"/>
                <a:sym typeface="Book Antiqua"/>
              </a:rPr>
              <a:t>Key studies:</a:t>
            </a:r>
          </a:p>
          <a:p>
            <a:pPr lvl="1" indent="-330200" algn="just">
              <a:lnSpc>
                <a:spcPct val="150000"/>
              </a:lnSpc>
              <a:spcBef>
                <a:spcPts val="0"/>
              </a:spcBef>
              <a:buSzPts val="1600"/>
              <a:buFont typeface="Book Antiqua"/>
              <a:buChar char="●"/>
            </a:pPr>
            <a:r>
              <a:rPr lang="en-US" sz="1600" dirty="0">
                <a:latin typeface="Book Antiqua"/>
                <a:ea typeface="Book Antiqua"/>
                <a:cs typeface="Book Antiqua"/>
                <a:sym typeface="Book Antiqua"/>
              </a:rPr>
              <a:t>Moving Averages (MA) and Momentum Oscillators (RSI) are widely used, with MA rules performing well in specific markets.</a:t>
            </a:r>
          </a:p>
          <a:p>
            <a:pPr lvl="1" indent="-330200" algn="just">
              <a:lnSpc>
                <a:spcPct val="150000"/>
              </a:lnSpc>
              <a:spcBef>
                <a:spcPts val="0"/>
              </a:spcBef>
              <a:buSzPts val="1600"/>
              <a:buFont typeface="Book Antiqua"/>
              <a:buChar char="●"/>
            </a:pPr>
            <a:r>
              <a:rPr lang="en-US" sz="1600" dirty="0">
                <a:latin typeface="Book Antiqua"/>
                <a:ea typeface="Book Antiqua"/>
                <a:cs typeface="Book Antiqua"/>
                <a:sym typeface="Book Antiqua"/>
              </a:rPr>
              <a:t>Aggregate sentiments from platforms like Twitter and </a:t>
            </a:r>
            <a:r>
              <a:rPr lang="en-US" sz="1600" dirty="0" err="1">
                <a:latin typeface="Book Antiqua"/>
                <a:ea typeface="Book Antiqua"/>
                <a:cs typeface="Book Antiqua"/>
                <a:sym typeface="Book Antiqua"/>
              </a:rPr>
              <a:t>StockTwits</a:t>
            </a:r>
            <a:r>
              <a:rPr lang="en-US" sz="1600" dirty="0">
                <a:latin typeface="Book Antiqua"/>
                <a:ea typeface="Book Antiqua"/>
                <a:cs typeface="Book Antiqua"/>
                <a:sym typeface="Book Antiqua"/>
              </a:rPr>
              <a:t> correlate with market indices; advanced NLP (Transformers) outperforms simple lexicons.</a:t>
            </a:r>
          </a:p>
          <a:p>
            <a:pPr lvl="1" indent="-330200" algn="just">
              <a:lnSpc>
                <a:spcPct val="150000"/>
              </a:lnSpc>
              <a:spcBef>
                <a:spcPts val="0"/>
              </a:spcBef>
              <a:buSzPts val="1600"/>
              <a:buFont typeface="Book Antiqua"/>
              <a:buChar char="●"/>
            </a:pPr>
            <a:r>
              <a:rPr lang="en-US" sz="1600" dirty="0">
                <a:latin typeface="Book Antiqua"/>
                <a:ea typeface="Book Antiqua"/>
                <a:cs typeface="Book Antiqua"/>
                <a:sym typeface="Book Antiqua"/>
              </a:rPr>
              <a:t>Combining LSTM with other models (e.g., CNN, MLP) or features (news, technicals) has been shown to improve accuracy and ROI.</a:t>
            </a:r>
          </a:p>
        </p:txBody>
      </p:sp>
    </p:spTree>
    <p:extLst>
      <p:ext uri="{BB962C8B-B14F-4D97-AF65-F5344CB8AC3E}">
        <p14:creationId xmlns:p14="http://schemas.microsoft.com/office/powerpoint/2010/main" val="2986707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710014D4-8804-702D-4545-3B91FF89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>
            <a:extLst>
              <a:ext uri="{FF2B5EF4-FFF2-40B4-BE49-F238E27FC236}">
                <a16:creationId xmlns:a16="http://schemas.microsoft.com/office/drawing/2014/main" id="{F753F293-7579-25C8-0FDA-FBAD013C9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400" dirty="0">
                <a:solidFill>
                  <a:srgbClr val="7030A0"/>
                </a:solidFill>
              </a:rPr>
              <a:t>Literature Review</a:t>
            </a:r>
            <a:endParaRPr dirty="0"/>
          </a:p>
        </p:txBody>
      </p:sp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7B8EA674-962D-B364-79B2-9C3C11C3F5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9EC01C58-B0C4-9D94-3A38-86C750D33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-US" sz="2000" dirty="0">
                <a:latin typeface="Book Antiqua"/>
                <a:ea typeface="Book Antiqua"/>
                <a:cs typeface="Book Antiqua"/>
                <a:sym typeface="Book Antiqua"/>
              </a:rPr>
              <a:t>Research gaps identified:</a:t>
            </a:r>
          </a:p>
          <a:p>
            <a:pPr lvl="1" indent="-330200" algn="just">
              <a:lnSpc>
                <a:spcPct val="150000"/>
              </a:lnSpc>
              <a:spcBef>
                <a:spcPts val="0"/>
              </a:spcBef>
              <a:buSzPts val="1600"/>
              <a:buFont typeface="Book Antiqua"/>
              <a:buChar char="●"/>
            </a:pPr>
            <a:r>
              <a:rPr lang="en-US" sz="1600" dirty="0">
                <a:latin typeface="Book Antiqua"/>
                <a:ea typeface="Book Antiqua"/>
                <a:cs typeface="Book Antiqua"/>
                <a:sym typeface="Book Antiqua"/>
              </a:rPr>
              <a:t>Few studies merge highly advanced sentiment embeddings with complex technical and fundamental indicators into a single input layer.</a:t>
            </a:r>
          </a:p>
          <a:p>
            <a:pPr lvl="1" indent="-330200" algn="just">
              <a:lnSpc>
                <a:spcPct val="150000"/>
              </a:lnSpc>
              <a:spcBef>
                <a:spcPts val="0"/>
              </a:spcBef>
              <a:buSzPts val="1600"/>
              <a:buFont typeface="Book Antiqua"/>
              <a:buChar char="●"/>
            </a:pPr>
            <a:r>
              <a:rPr lang="en-US" sz="1600" dirty="0">
                <a:latin typeface="Book Antiqua"/>
                <a:ea typeface="Book Antiqua"/>
                <a:cs typeface="Book Antiqua"/>
                <a:sym typeface="Book Antiqua"/>
              </a:rPr>
              <a:t>Current ensemble models often utilize less enriched or standardized input features, missing the opportunity to train robust stacked models on deeply extracted features.</a:t>
            </a:r>
          </a:p>
        </p:txBody>
      </p:sp>
    </p:spTree>
    <p:extLst>
      <p:ext uri="{BB962C8B-B14F-4D97-AF65-F5344CB8AC3E}">
        <p14:creationId xmlns:p14="http://schemas.microsoft.com/office/powerpoint/2010/main" val="391617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Problem Statement</a:t>
            </a:r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Financial time series data is characterized by high volatility, non-linearity, and chaotic behavior, making accurate prediction difficult.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There is a lack of comprehensive feature integration; few models merge advanced sentiment embeddings with complex technical indicators into a single input layer.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Existing ensemble models often employ less enriched or standardized input features, missing the opportunity to leverage deeply extracted metrics.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Objectives</a:t>
            </a:r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>
                <a:latin typeface="Book Antiqua"/>
                <a:ea typeface="Book Antiqua"/>
                <a:cs typeface="Book Antiqua"/>
                <a:sym typeface="Book Antiqua"/>
              </a:rPr>
              <a:t>Create a framework combining statistical, machine learning, and deep learning paradigms.</a:t>
            </a: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>
                <a:latin typeface="Book Antiqua"/>
                <a:ea typeface="Book Antiqua"/>
                <a:cs typeface="Book Antiqua"/>
                <a:sym typeface="Book Antiqua"/>
              </a:rPr>
              <a:t>Extract comprehensive technical indicators (SMA, EMA, RSI, MACD) and integrate them with normalized sentiment scores from NLP models.</a:t>
            </a: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>
                <a:latin typeface="Book Antiqua"/>
                <a:ea typeface="Book Antiqua"/>
                <a:cs typeface="Book Antiqua"/>
                <a:sym typeface="Book Antiqua"/>
              </a:rPr>
              <a:t>Gauge model capability using standard metrics including RMSE, MAE, MAPE, and Directional Accuracy (DA).</a:t>
            </a: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Objectives</a:t>
            </a:r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49" name="Google Shape;149;p25" title="000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9875" y="1106350"/>
            <a:ext cx="3524250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Methodology &amp; Data Flow Diagram</a:t>
            </a:r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ook Antiqua"/>
              <a:buChar char="●"/>
            </a:pPr>
            <a:r>
              <a:rPr lang="en">
                <a:latin typeface="Book Antiqua"/>
                <a:ea typeface="Book Antiqua"/>
                <a:cs typeface="Book Antiqua"/>
                <a:sym typeface="Book Antiqua"/>
              </a:rPr>
              <a:t>Historical data is retrieved using the yfinance API, capturing OHLCV values over a configurable window.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ook Antiqua"/>
              <a:buChar char="●"/>
            </a:pPr>
            <a:r>
              <a:rPr lang="en">
                <a:latin typeface="Book Antiqua"/>
                <a:ea typeface="Book Antiqua"/>
                <a:cs typeface="Book Antiqua"/>
                <a:sym typeface="Book Antiqua"/>
              </a:rPr>
              <a:t>Features are normalized via Min-Max scaling, with strict train/test splitting to prevent data leakage and look-ahead bias.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ook Antiqua"/>
              <a:buChar char="●"/>
            </a:pPr>
            <a:r>
              <a:rPr lang="en">
                <a:latin typeface="Book Antiqua"/>
                <a:ea typeface="Book Antiqua"/>
                <a:cs typeface="Book Antiqua"/>
                <a:sym typeface="Book Antiqua"/>
              </a:rPr>
              <a:t>Financial news is processed via a RoBERTa-based pipeline to yield discrete sentiment values (0, 1, 2).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ook Antiqua"/>
              <a:buChar char="●"/>
            </a:pPr>
            <a:r>
              <a:rPr lang="en">
                <a:latin typeface="Book Antiqua"/>
                <a:ea typeface="Book Antiqua"/>
                <a:cs typeface="Book Antiqua"/>
                <a:sym typeface="Book Antiqua"/>
              </a:rPr>
              <a:t>The framework uses a "one-step-ahead" rolling forecast (walk-forward validation) to re-calibrate predictions with recent actual data.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Methodology &amp; Data Flow Diagram</a:t>
            </a: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64" name="Google Shape;16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06073"/>
            <a:ext cx="9144000" cy="2131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Implementation</a:t>
            </a:r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>
                <a:latin typeface="Book Antiqua"/>
                <a:ea typeface="Book Antiqua"/>
                <a:cs typeface="Book Antiqua"/>
                <a:sym typeface="Book Antiqua"/>
              </a:rPr>
              <a:t>Built using Python, TensorFlow/Keras for neural networks, and Scikit-learn for machine learning and ensemble meta-learners.</a:t>
            </a: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>
                <a:latin typeface="Book Antiqua"/>
                <a:ea typeface="Book Antiqua"/>
                <a:cs typeface="Book Antiqua"/>
                <a:sym typeface="Book Antiqua"/>
              </a:rPr>
              <a:t>Tested on major stocks (AAPL, MSFT, GOOGL, etc.) utilizing dynamic time spans based on user lookback inputs.</a:t>
            </a: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 Antiqua"/>
              <a:buChar char="●"/>
            </a:pPr>
            <a:r>
              <a:rPr lang="en" sz="1900">
                <a:latin typeface="Book Antiqua"/>
                <a:ea typeface="Book Antiqua"/>
                <a:cs typeface="Book Antiqua"/>
                <a:sym typeface="Book Antiqua"/>
              </a:rPr>
              <a:t>Implemented caching to store large sentiment pipelines and specific rate limiting (55 calls/60 seconds) to manage external API constraints gracefully.</a:t>
            </a: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Implementation</a:t>
            </a:r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68499"/>
            <a:ext cx="9144000" cy="2006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Implementation</a:t>
            </a:r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9144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9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87" name="Google Shape;187;p30" title="Level 2; Process 4.0 (Train Base Models)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699" y="1173475"/>
            <a:ext cx="8520600" cy="31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Results</a:t>
            </a:r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ok Antiqua"/>
              <a:buChar char="●"/>
            </a:pPr>
            <a:r>
              <a:rPr lang="en" sz="1800" dirty="0">
                <a:latin typeface="Book Antiqua"/>
                <a:ea typeface="Book Antiqua"/>
                <a:cs typeface="Book Antiqua"/>
                <a:sym typeface="Book Antiqua"/>
              </a:rPr>
              <a:t>Ensemble methods, particularly Stacking, consistently achieved superior results compared to individual base models.</a:t>
            </a: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ok Antiqua"/>
              <a:buChar char="●"/>
            </a:pPr>
            <a:r>
              <a:rPr lang="en" sz="1800" dirty="0">
                <a:latin typeface="Book Antiqua"/>
                <a:ea typeface="Book Antiqua"/>
                <a:cs typeface="Book Antiqua"/>
                <a:sym typeface="Book Antiqua"/>
              </a:rPr>
              <a:t>The Stacking model recorded the lowest RMSE, MAE, and MAPE across almost all analyzed stocks.</a:t>
            </a: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ok Antiqua"/>
              <a:buChar char="●"/>
            </a:pPr>
            <a:r>
              <a:rPr lang="en" sz="1800" dirty="0">
                <a:latin typeface="Book Antiqua"/>
                <a:ea typeface="Book Antiqua"/>
                <a:cs typeface="Book Antiqua"/>
                <a:sym typeface="Book Antiqua"/>
              </a:rPr>
              <a:t>Stacking achieved a MAPE of 0.74% for GOOGL, 0.60% for MSFT, and 0.72% for JNJ.</a:t>
            </a: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ook Antiqua"/>
              <a:buChar char="●"/>
            </a:pPr>
            <a:r>
              <a:rPr lang="en" sz="1800" dirty="0">
                <a:latin typeface="Book Antiqua"/>
                <a:ea typeface="Book Antiqua"/>
                <a:cs typeface="Book Antiqua"/>
                <a:sym typeface="Book Antiqua"/>
              </a:rPr>
              <a:t>The system prioritized Directional Accuracy, with Stacking peaking at 75.86% for GOOGL and 68.96% for V.</a:t>
            </a: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Results</a:t>
            </a:r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01" name="Google Shape;201;p32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114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202" name="Google Shape;20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38" y="1087305"/>
            <a:ext cx="42672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8688" y="1103313"/>
            <a:ext cx="42672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2897188"/>
            <a:ext cx="42672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48213" y="2912926"/>
            <a:ext cx="4248150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400">
                <a:solidFill>
                  <a:srgbClr val="7030A0"/>
                </a:solidFill>
              </a:rPr>
              <a:t>Conclusion and Future Work</a:t>
            </a:r>
            <a:endParaRPr/>
          </a:p>
        </p:txBody>
      </p:sp>
      <p:sp>
        <p:nvSpPr>
          <p:cNvPr id="211" name="Google Shape;211;p33"/>
          <p:cNvSpPr txBox="1">
            <a:spLocks noGrp="1"/>
          </p:cNvSpPr>
          <p:nvPr>
            <p:ph type="sldNum" idx="12"/>
          </p:nvPr>
        </p:nvSpPr>
        <p:spPr>
          <a:xfrm>
            <a:off x="8504902" y="4728280"/>
            <a:ext cx="500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311700" y="110313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The thorough integration of heterogeneous machine-learning, statistical, and sentiment-analysis methods provides strong evidence for highly accurate financial forecasts.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Future work will include a focused study comparing models trained with the full feature set against those trained only on technical features.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Plans to expand sentiment sources beyond news summaries to include social media and earnings call transcripts.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ook Antiqua"/>
              <a:buChar char="●"/>
            </a:pPr>
            <a:r>
              <a:rPr lang="en" sz="1600">
                <a:latin typeface="Book Antiqua"/>
                <a:ea typeface="Book Antiqua"/>
                <a:cs typeface="Book Antiqua"/>
                <a:sym typeface="Book Antiqua"/>
              </a:rPr>
              <a:t>Exploring the use of Transformer or Attention-based neural networks to better capture long-term dependencies compared to traditional LSTMs.</a:t>
            </a:r>
            <a:endParaRPr sz="16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789</Words>
  <Application>Microsoft Office PowerPoint</Application>
  <PresentationFormat>On-screen Show (16:9)</PresentationFormat>
  <Paragraphs>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Book Antiqua</vt:lpstr>
      <vt:lpstr>Arial</vt:lpstr>
      <vt:lpstr>Calibri</vt:lpstr>
      <vt:lpstr>Verdana</vt:lpstr>
      <vt:lpstr>Georgia</vt:lpstr>
      <vt:lpstr>Archivo Narrow</vt:lpstr>
      <vt:lpstr>Simple Light</vt:lpstr>
      <vt:lpstr>Simple Light</vt:lpstr>
      <vt:lpstr>Enhancing Stock Price Prediction: A Multi-Model Framework Integrating Technical Indicators and Sentiment Analysis</vt:lpstr>
      <vt:lpstr>Abstract</vt:lpstr>
      <vt:lpstr>Introduction</vt:lpstr>
      <vt:lpstr>Literature Review</vt:lpstr>
      <vt:lpstr>Literature Review</vt:lpstr>
      <vt:lpstr>Problem Statement</vt:lpstr>
      <vt:lpstr>Objectives</vt:lpstr>
      <vt:lpstr>Objectives</vt:lpstr>
      <vt:lpstr>Methodology &amp; Data Flow Diagram</vt:lpstr>
      <vt:lpstr>Methodology &amp; Data Flow Diagram</vt:lpstr>
      <vt:lpstr>Implementation</vt:lpstr>
      <vt:lpstr>Implementation</vt:lpstr>
      <vt:lpstr>Implementation</vt:lpstr>
      <vt:lpstr>Results</vt:lpstr>
      <vt:lpstr>Results</vt:lpstr>
      <vt:lpstr>Conclusion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adwaidh prakasan</cp:lastModifiedBy>
  <cp:revision>5</cp:revision>
  <dcterms:modified xsi:type="dcterms:W3CDTF">2026-03-28T05:53:41Z</dcterms:modified>
</cp:coreProperties>
</file>